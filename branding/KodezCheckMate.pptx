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534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184" y="8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73096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authorizedtoact.kodez.au/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authorizedtoact.kodez.au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0"/>
            <a:ext cx="3200400" cy="5143500"/>
          </a:xfrm>
          <a:prstGeom prst="rect">
            <a:avLst/>
          </a:prstGeom>
          <a:solidFill>
            <a:srgbClr val="FF7F56"/>
          </a:solidFill>
          <a:ln w="12700">
            <a:solidFill>
              <a:srgbClr val="FF7F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217920" y="0"/>
            <a:ext cx="3200400" cy="5143500"/>
          </a:xfrm>
          <a:prstGeom prst="rect">
            <a:avLst/>
          </a:prstGeom>
          <a:solidFill>
            <a:srgbClr val="000000">
              <a:alpha val="12000"/>
            </a:srgbClr>
          </a:solidFill>
          <a:ln w="12700">
            <a:solidFill>
              <a:srgbClr val="FF7F56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47472"/>
            <a:ext cx="347472" cy="274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68680" y="310896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kern="0" spc="300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KO</a:t>
            </a:r>
            <a:r>
              <a:rPr lang="en-US" sz="1700" b="1" kern="0" spc="300" dirty="0">
                <a:solidFill>
                  <a:srgbClr val="FF7F56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D</a:t>
            </a:r>
            <a:r>
              <a:rPr lang="en-US" sz="1700" b="1" kern="0" spc="300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EZ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457200" y="1371600"/>
            <a:ext cx="457200" cy="36576"/>
          </a:xfrm>
          <a:prstGeom prst="rect">
            <a:avLst/>
          </a:prstGeom>
          <a:solidFill>
            <a:srgbClr val="FF7F56"/>
          </a:solidFill>
          <a:ln w="12700">
            <a:solidFill>
              <a:srgbClr val="FF7F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1005840" y="129844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FF7F56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INTRODUCING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1572768"/>
            <a:ext cx="5486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KODEZ</a:t>
            </a:r>
            <a:endParaRPr lang="en-US" sz="5600" dirty="0"/>
          </a:p>
        </p:txBody>
      </p:sp>
      <p:sp>
        <p:nvSpPr>
          <p:cNvPr id="9" name="Text 6"/>
          <p:cNvSpPr/>
          <p:nvPr/>
        </p:nvSpPr>
        <p:spPr>
          <a:xfrm>
            <a:off x="457200" y="2267712"/>
            <a:ext cx="5486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CHECK</a:t>
            </a:r>
            <a:r>
              <a:rPr lang="en-US" sz="5600" b="1" dirty="0">
                <a:solidFill>
                  <a:srgbClr val="FF7F56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MATE</a:t>
            </a:r>
            <a:endParaRPr lang="en-US" sz="5600" dirty="0"/>
          </a:p>
        </p:txBody>
      </p:sp>
      <p:sp>
        <p:nvSpPr>
          <p:cNvPr id="10" name="Text 7"/>
          <p:cNvSpPr/>
          <p:nvPr/>
        </p:nvSpPr>
        <p:spPr>
          <a:xfrm>
            <a:off x="457200" y="3127248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99999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AI-Powered SecOps Orchestration for Auth0</a:t>
            </a:r>
          </a:p>
          <a:p>
            <a:r>
              <a:rPr lang="en-US" sz="1150" b="1" dirty="0">
                <a:solidFill>
                  <a:srgbClr val="0563C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https://authorizedtoact.kodez.au</a:t>
            </a:r>
            <a:endParaRPr lang="en-US" sz="1150" b="1" dirty="0">
              <a:solidFill>
                <a:schemeClr val="bg1"/>
              </a:solidFill>
            </a:endParaRPr>
          </a:p>
        </p:txBody>
      </p:sp>
      <p:sp>
        <p:nvSpPr>
          <p:cNvPr id="11" name="Shape 8"/>
          <p:cNvSpPr/>
          <p:nvPr/>
        </p:nvSpPr>
        <p:spPr>
          <a:xfrm>
            <a:off x="457200" y="4754880"/>
            <a:ext cx="5577840" cy="6401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57200" y="480060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200" dirty="0">
                <a:solidFill>
                  <a:srgbClr val="444444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KODEZ.IO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869180"/>
            <a:ext cx="36576" cy="274320"/>
          </a:xfrm>
          <a:prstGeom prst="rect">
            <a:avLst/>
          </a:prstGeom>
          <a:solidFill>
            <a:srgbClr val="FF7F56"/>
          </a:solidFill>
          <a:ln w="12700">
            <a:solidFill>
              <a:srgbClr val="FF7F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92608"/>
            <a:ext cx="237744" cy="1828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85800" y="27432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KO</a:t>
            </a:r>
            <a:r>
              <a:rPr lang="en-US" sz="1200" b="1" kern="0" spc="200" dirty="0">
                <a:solidFill>
                  <a:srgbClr val="FF7F56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D</a:t>
            </a:r>
            <a:r>
              <a:rPr lang="en-US" sz="1200" b="1" kern="0" spc="200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EZ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57200" y="786384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300" dirty="0">
                <a:solidFill>
                  <a:srgbClr val="FF7F56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THE CHALLENGE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457200" y="987552"/>
            <a:ext cx="8229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SecOps teams are drowning</a:t>
            </a:r>
            <a:endParaRPr lang="en-US" sz="32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in manual workflows.</a:t>
            </a:r>
            <a:endParaRPr lang="en-US" sz="3200" dirty="0"/>
          </a:p>
        </p:txBody>
      </p:sp>
      <p:sp>
        <p:nvSpPr>
          <p:cNvPr id="8" name="Shape 5"/>
          <p:cNvSpPr/>
          <p:nvPr/>
        </p:nvSpPr>
        <p:spPr>
          <a:xfrm>
            <a:off x="457200" y="1920240"/>
            <a:ext cx="2606040" cy="2606040"/>
          </a:xfrm>
          <a:prstGeom prst="rect">
            <a:avLst/>
          </a:prstGeom>
          <a:solidFill>
            <a:srgbClr val="1C1C1C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457200" y="1920240"/>
            <a:ext cx="2606040" cy="32004"/>
          </a:xfrm>
          <a:prstGeom prst="rect">
            <a:avLst/>
          </a:prstGeom>
          <a:solidFill>
            <a:srgbClr val="FF7F56"/>
          </a:solidFill>
          <a:ln w="12700">
            <a:solidFill>
              <a:srgbClr val="FF7F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94360" y="202996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7F56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01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594360" y="2414016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FINDINGS SIT IN SPREADSHEETS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94360" y="2834640"/>
            <a:ext cx="2331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88888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Vulnerability scanners surface issues. They go into spreadsheets, then get copied into tickets — by hand.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3273552" y="1920240"/>
            <a:ext cx="2606040" cy="2606040"/>
          </a:xfrm>
          <a:prstGeom prst="rect">
            <a:avLst/>
          </a:prstGeom>
          <a:solidFill>
            <a:srgbClr val="1C1C1C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3273552" y="1920240"/>
            <a:ext cx="2606040" cy="32004"/>
          </a:xfrm>
          <a:prstGeom prst="rect">
            <a:avLst/>
          </a:prstGeom>
          <a:solidFill>
            <a:srgbClr val="FF7F56"/>
          </a:solidFill>
          <a:ln w="12700">
            <a:solidFill>
              <a:srgbClr val="FF7F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3410712" y="202996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7F56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02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3410712" y="2414016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THE GLUE DOESN'T EXIST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3410712" y="2834640"/>
            <a:ext cx="2331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88888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Auth0 CheckMate gives you a point-in-time report. Triage, ticketing, documentation — that handoff is entirely manual.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6089904" y="1920240"/>
            <a:ext cx="2606040" cy="2606040"/>
          </a:xfrm>
          <a:prstGeom prst="rect">
            <a:avLst/>
          </a:prstGeom>
          <a:solidFill>
            <a:srgbClr val="1C1C1C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6089904" y="1920240"/>
            <a:ext cx="2606040" cy="32004"/>
          </a:xfrm>
          <a:prstGeom prst="rect">
            <a:avLst/>
          </a:prstGeom>
          <a:solidFill>
            <a:srgbClr val="FF7F56"/>
          </a:solidFill>
          <a:ln w="12700">
            <a:solidFill>
              <a:srgbClr val="FF7F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6227064" y="202996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7F56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03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6227064" y="2414016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TEAMS REACT INSTEAD OF ACT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6227064" y="2834640"/>
            <a:ext cx="2331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88888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Without real-time alerts, critical vulnerabilities wait for the next standup. That delay is risk.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46320"/>
            <a:ext cx="9144000" cy="9144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4873752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888888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KODEZ CHECKMATE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572000" y="4873752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kern="0" spc="100" dirty="0">
                <a:solidFill>
                  <a:srgbClr val="C0C0C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What it is</a:t>
            </a:r>
            <a:endParaRPr lang="en-US" sz="7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92608"/>
            <a:ext cx="237744" cy="1828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27432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11111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KO</a:t>
            </a:r>
            <a:r>
              <a:rPr lang="en-US" sz="1200" b="1" kern="0" spc="200" dirty="0">
                <a:solidFill>
                  <a:srgbClr val="FF7F56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D</a:t>
            </a:r>
            <a:r>
              <a:rPr lang="en-US" sz="1200" b="1" kern="0" spc="200" dirty="0">
                <a:solidFill>
                  <a:srgbClr val="111111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EZ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57200" y="786384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300" dirty="0">
                <a:solidFill>
                  <a:srgbClr val="FF7F56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WHAT IS KODEZ CHECKMATE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457200" y="1005840"/>
            <a:ext cx="47548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2400" b="1" dirty="0">
                <a:solidFill>
                  <a:srgbClr val="111111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The orchestration layer</a:t>
            </a:r>
            <a:endParaRPr lang="en-US" sz="24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2400" b="1" dirty="0">
                <a:solidFill>
                  <a:srgbClr val="111111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your SecOps team is missing.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457200" y="1874520"/>
            <a:ext cx="43891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Kodez CheckMate is an AI-powered SecOps orchestration platform that takes Auth0 CheckMate security scans from raw results to tracked, documented, and actioned findings — driven by natural language prompts.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The individual pieces — security scanning, ticketing, documentation, alerting — aren't new. What's new is the orchestration layer that connects them.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303520" y="0"/>
            <a:ext cx="3840480" cy="51435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5303520" y="0"/>
            <a:ext cx="54864" cy="5143500"/>
          </a:xfrm>
          <a:prstGeom prst="rect">
            <a:avLst/>
          </a:prstGeom>
          <a:solidFill>
            <a:srgbClr val="FF7F56"/>
          </a:solidFill>
          <a:ln w="12700">
            <a:solidFill>
              <a:srgbClr val="FF7F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577840" y="91440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88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From scan to</a:t>
            </a:r>
            <a:endParaRPr lang="en-US" sz="3800" dirty="0"/>
          </a:p>
          <a:p>
            <a:pPr marL="0" indent="0">
              <a:lnSpc>
                <a:spcPct val="88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action.</a:t>
            </a:r>
            <a:endParaRPr lang="en-US" sz="3800" dirty="0"/>
          </a:p>
        </p:txBody>
      </p:sp>
      <p:sp>
        <p:nvSpPr>
          <p:cNvPr id="13" name="Text 10"/>
          <p:cNvSpPr/>
          <p:nvPr/>
        </p:nvSpPr>
        <p:spPr>
          <a:xfrm>
            <a:off x="5577840" y="228600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88888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One prompt. Scan, document, ticket, alert — executed end-to-end without manual coordination.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577840" y="3520440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FF7F56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SINGLE CONVERSATION</a:t>
            </a:r>
            <a:endParaRPr lang="en-US" sz="700" dirty="0"/>
          </a:p>
        </p:txBody>
      </p:sp>
      <p:sp>
        <p:nvSpPr>
          <p:cNvPr id="15" name="Text 12"/>
          <p:cNvSpPr/>
          <p:nvPr/>
        </p:nvSpPr>
        <p:spPr>
          <a:xfrm>
            <a:off x="5577840" y="3730752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00" i="1" dirty="0">
                <a:solidFill>
                  <a:srgbClr val="555555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Run security scan. Publish to Confluence. Create JIRA tickets. Alert team on Teams.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46320"/>
            <a:ext cx="9144000" cy="9144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4873752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888888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KODEZ CHECKMATE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572000" y="4873752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kern="0" spc="100" dirty="0">
                <a:solidFill>
                  <a:srgbClr val="C0C0C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How it works</a:t>
            </a:r>
            <a:endParaRPr lang="en-US" sz="7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92608"/>
            <a:ext cx="237744" cy="1828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27432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11111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KO</a:t>
            </a:r>
            <a:r>
              <a:rPr lang="en-US" sz="1200" b="1" kern="0" spc="200" dirty="0">
                <a:solidFill>
                  <a:srgbClr val="FF7F56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D</a:t>
            </a:r>
            <a:r>
              <a:rPr lang="en-US" sz="1200" b="1" kern="0" spc="200" dirty="0">
                <a:solidFill>
                  <a:srgbClr val="111111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EZ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57200" y="786384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300" dirty="0">
                <a:solidFill>
                  <a:srgbClr val="FF7F56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HOW IT WORKS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457200" y="10058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111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The AI Agent is the platform.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457200" y="1719072"/>
            <a:ext cx="4069080" cy="1371600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57200" y="1719072"/>
            <a:ext cx="36576" cy="1371600"/>
          </a:xfrm>
          <a:prstGeom prst="rect">
            <a:avLst/>
          </a:prstGeom>
          <a:solidFill>
            <a:srgbClr val="FF7F56"/>
          </a:solidFill>
          <a:ln w="12700">
            <a:solidFill>
              <a:srgbClr val="FF7F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21792" y="1810512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7F56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01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170432" y="186537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888888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PROMPT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621792" y="223113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YOU TYPE A NATURAL LANGUAGE PROMPT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21792" y="2523744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"Run security scan. Create JIRA tickets for all findings."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4773168" y="1719072"/>
            <a:ext cx="4069080" cy="1371600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4773168" y="1719072"/>
            <a:ext cx="36576" cy="1371600"/>
          </a:xfrm>
          <a:prstGeom prst="rect">
            <a:avLst/>
          </a:prstGeom>
          <a:solidFill>
            <a:srgbClr val="FF7F56"/>
          </a:solidFill>
          <a:ln w="12700">
            <a:solidFill>
              <a:srgbClr val="FF7F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4937760" y="1810512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7F56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02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5486400" y="186537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888888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CONFIRM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4937760" y="223113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AGENT DETECTS INTENT, SEEKS APPROVAL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937760" y="2523744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Every action requires explicit user sign-off before it runs. Nothing executes without your knowledge.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457200" y="3291840"/>
            <a:ext cx="4069080" cy="1371600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457200" y="3291840"/>
            <a:ext cx="36576" cy="1371600"/>
          </a:xfrm>
          <a:prstGeom prst="rect">
            <a:avLst/>
          </a:prstGeom>
          <a:solidFill>
            <a:srgbClr val="FF7F56"/>
          </a:solidFill>
          <a:ln w="12700">
            <a:solidFill>
              <a:srgbClr val="FF7F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621792" y="338328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7F56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03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1170432" y="343814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888888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EXECUTE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621792" y="380390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TASKS RUN IN SEQUENCE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621792" y="4096512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Scan → store results → create tickets → publish summary → alert team. End-to-end, automatically.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4773168" y="3291840"/>
            <a:ext cx="4069080" cy="1371600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4773168" y="3291840"/>
            <a:ext cx="36576" cy="1371600"/>
          </a:xfrm>
          <a:prstGeom prst="rect">
            <a:avLst/>
          </a:prstGeom>
          <a:solidFill>
            <a:srgbClr val="FF7F56"/>
          </a:solidFill>
          <a:ln w="12700">
            <a:solidFill>
              <a:srgbClr val="FF7F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4937760" y="338328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7F56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04</a:t>
            </a:r>
            <a:endParaRPr lang="en-US" sz="2200" dirty="0"/>
          </a:p>
        </p:txBody>
      </p:sp>
      <p:sp>
        <p:nvSpPr>
          <p:cNvPr id="30" name="Text 27"/>
          <p:cNvSpPr/>
          <p:nvPr/>
        </p:nvSpPr>
        <p:spPr>
          <a:xfrm>
            <a:off x="5486400" y="343814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888888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REVIEW</a:t>
            </a:r>
            <a:endParaRPr lang="en-US" sz="750" dirty="0"/>
          </a:p>
        </p:txBody>
      </p:sp>
      <p:sp>
        <p:nvSpPr>
          <p:cNvPr id="31" name="Text 28"/>
          <p:cNvSpPr/>
          <p:nvPr/>
        </p:nvSpPr>
        <p:spPr>
          <a:xfrm>
            <a:off x="4937760" y="380390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RESULTS VISUALISED &amp; STORED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4937760" y="4096512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Charts show open vulnerabilities over time. Compare scans, ask questions, get remediation guidance.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869180"/>
            <a:ext cx="36576" cy="274320"/>
          </a:xfrm>
          <a:prstGeom prst="rect">
            <a:avLst/>
          </a:prstGeom>
          <a:solidFill>
            <a:srgbClr val="FF7F56"/>
          </a:solidFill>
          <a:ln w="12700">
            <a:solidFill>
              <a:srgbClr val="FF7F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92608"/>
            <a:ext cx="237744" cy="1828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85800" y="27432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KO</a:t>
            </a:r>
            <a:r>
              <a:rPr lang="en-US" sz="1200" b="1" kern="0" spc="200" dirty="0">
                <a:solidFill>
                  <a:srgbClr val="FF7F56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D</a:t>
            </a:r>
            <a:r>
              <a:rPr lang="en-US" sz="1200" b="1" kern="0" spc="200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EZ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57200" y="786384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300" dirty="0">
                <a:solidFill>
                  <a:srgbClr val="FF7F56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CORE CAPABILITIES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457200" y="987552"/>
            <a:ext cx="8229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Everything your team needs</a:t>
            </a:r>
            <a:endParaRPr lang="en-US" sz="28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to stay ahead of risk.</a:t>
            </a:r>
            <a:endParaRPr lang="en-US" sz="2800" dirty="0"/>
          </a:p>
        </p:txBody>
      </p:sp>
      <p:sp>
        <p:nvSpPr>
          <p:cNvPr id="8" name="Shape 5"/>
          <p:cNvSpPr/>
          <p:nvPr/>
        </p:nvSpPr>
        <p:spPr>
          <a:xfrm>
            <a:off x="457200" y="1920240"/>
            <a:ext cx="2697480" cy="1325880"/>
          </a:xfrm>
          <a:prstGeom prst="rect">
            <a:avLst/>
          </a:prstGeom>
          <a:solidFill>
            <a:srgbClr val="1C1C1C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103120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24128" y="208483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PROMPT-DRIVEN SCANNING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640080" y="2487168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88888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Trigger Auth0 CheckMate scans with a single natural language prompt.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3310128" y="1920240"/>
            <a:ext cx="2697480" cy="1325880"/>
          </a:xfrm>
          <a:prstGeom prst="rect">
            <a:avLst/>
          </a:prstGeom>
          <a:solidFill>
            <a:srgbClr val="1C1C1C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93008" y="210312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877056" y="208483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HUMAN-IN-THE-LOOP</a:t>
            </a:r>
            <a:endParaRPr lang="en-US" sz="1000" dirty="0"/>
          </a:p>
        </p:txBody>
      </p:sp>
      <p:sp>
        <p:nvSpPr>
          <p:cNvPr id="15" name="Text 10"/>
          <p:cNvSpPr/>
          <p:nvPr/>
        </p:nvSpPr>
        <p:spPr>
          <a:xfrm>
            <a:off x="3493008" y="2487168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88888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Every agent action requires explicit approval. Nothing runs without your sign-off.</a:t>
            </a:r>
            <a:endParaRPr lang="en-US" sz="900" dirty="0"/>
          </a:p>
        </p:txBody>
      </p:sp>
      <p:sp>
        <p:nvSpPr>
          <p:cNvPr id="16" name="Shape 11"/>
          <p:cNvSpPr/>
          <p:nvPr/>
        </p:nvSpPr>
        <p:spPr>
          <a:xfrm>
            <a:off x="6163056" y="1920240"/>
            <a:ext cx="2697480" cy="1325880"/>
          </a:xfrm>
          <a:prstGeom prst="rect">
            <a:avLst/>
          </a:prstGeom>
          <a:solidFill>
            <a:srgbClr val="1C1C1C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45936" y="2103120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729984" y="208483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MULTI-TASK CHAINING</a:t>
            </a:r>
            <a:endParaRPr lang="en-US" sz="1000" dirty="0"/>
          </a:p>
        </p:txBody>
      </p:sp>
      <p:sp>
        <p:nvSpPr>
          <p:cNvPr id="19" name="Text 13"/>
          <p:cNvSpPr/>
          <p:nvPr/>
        </p:nvSpPr>
        <p:spPr>
          <a:xfrm>
            <a:off x="6345936" y="2487168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88888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Combine scan, document, ticket, and alert into one prompt. The agent handles the rest.</a:t>
            </a:r>
            <a:endParaRPr lang="en-US" sz="900" dirty="0"/>
          </a:p>
        </p:txBody>
      </p:sp>
      <p:sp>
        <p:nvSpPr>
          <p:cNvPr id="20" name="Shape 14"/>
          <p:cNvSpPr/>
          <p:nvPr/>
        </p:nvSpPr>
        <p:spPr>
          <a:xfrm>
            <a:off x="457200" y="3401568"/>
            <a:ext cx="2697480" cy="1325880"/>
          </a:xfrm>
          <a:prstGeom prst="rect">
            <a:avLst/>
          </a:prstGeom>
          <a:solidFill>
            <a:srgbClr val="1C1C1C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3584448"/>
            <a:ext cx="274320" cy="27432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024128" y="35661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SCAN COMPARISON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640080" y="3968496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88888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Compare scans over time. Ask about new findings, resolved issues, and trends.</a:t>
            </a:r>
            <a:endParaRPr lang="en-US" sz="900" dirty="0"/>
          </a:p>
        </p:txBody>
      </p:sp>
      <p:sp>
        <p:nvSpPr>
          <p:cNvPr id="24" name="Shape 17"/>
          <p:cNvSpPr/>
          <p:nvPr/>
        </p:nvSpPr>
        <p:spPr>
          <a:xfrm>
            <a:off x="3310128" y="3401568"/>
            <a:ext cx="2697480" cy="1325880"/>
          </a:xfrm>
          <a:prstGeom prst="rect">
            <a:avLst/>
          </a:prstGeom>
          <a:solidFill>
            <a:srgbClr val="1C1C1C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93008" y="3584448"/>
            <a:ext cx="274320" cy="27432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3877056" y="35661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JIRA TICKET CREATION</a:t>
            </a:r>
            <a:endParaRPr lang="en-US" sz="1000" dirty="0"/>
          </a:p>
        </p:txBody>
      </p:sp>
      <p:sp>
        <p:nvSpPr>
          <p:cNvPr id="27" name="Text 19"/>
          <p:cNvSpPr/>
          <p:nvPr/>
        </p:nvSpPr>
        <p:spPr>
          <a:xfrm>
            <a:off x="3493008" y="3968496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88888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Structured tickets created for every open vulnerability — zero copy-pasting.</a:t>
            </a:r>
            <a:endParaRPr lang="en-US" sz="900" dirty="0"/>
          </a:p>
        </p:txBody>
      </p:sp>
      <p:sp>
        <p:nvSpPr>
          <p:cNvPr id="28" name="Shape 20"/>
          <p:cNvSpPr/>
          <p:nvPr/>
        </p:nvSpPr>
        <p:spPr>
          <a:xfrm>
            <a:off x="6163056" y="3401568"/>
            <a:ext cx="2697480" cy="1325880"/>
          </a:xfrm>
          <a:prstGeom prst="rect">
            <a:avLst/>
          </a:prstGeom>
          <a:solidFill>
            <a:srgbClr val="1C1C1C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45936" y="3584448"/>
            <a:ext cx="274320" cy="274320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6729984" y="35661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AUTH0 TOKEN VAULT</a:t>
            </a:r>
            <a:endParaRPr lang="en-US" sz="1000" dirty="0"/>
          </a:p>
        </p:txBody>
      </p:sp>
      <p:sp>
        <p:nvSpPr>
          <p:cNvPr id="31" name="Text 22"/>
          <p:cNvSpPr/>
          <p:nvPr/>
        </p:nvSpPr>
        <p:spPr>
          <a:xfrm>
            <a:off x="6345936" y="3968496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88888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All integration tokens stored securely in Auth0 Token Vault. Never exposed to the client.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46320"/>
            <a:ext cx="9144000" cy="9144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4873752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888888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KODEZ CHECKMATE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572000" y="4873752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kern="0" spc="100" dirty="0">
                <a:solidFill>
                  <a:srgbClr val="C0C0C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Integrations</a:t>
            </a:r>
            <a:endParaRPr lang="en-US" sz="7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92608"/>
            <a:ext cx="237744" cy="1828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27432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11111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KO</a:t>
            </a:r>
            <a:r>
              <a:rPr lang="en-US" sz="1200" b="1" kern="0" spc="200" dirty="0">
                <a:solidFill>
                  <a:srgbClr val="FF7F56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D</a:t>
            </a:r>
            <a:r>
              <a:rPr lang="en-US" sz="1200" b="1" kern="0" spc="200" dirty="0">
                <a:solidFill>
                  <a:srgbClr val="111111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EZ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57200" y="786384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300" dirty="0">
                <a:solidFill>
                  <a:srgbClr val="FF7F56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INTEGRATIONS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457200" y="987552"/>
            <a:ext cx="5486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111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Connected to your entire workflow.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457200" y="1517904"/>
            <a:ext cx="5120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CheckMate plugs into the tools your team already uses. Vulnerabilities flow straight into your existing processes — no new dashboards to learn.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57200" y="2240280"/>
            <a:ext cx="2697480" cy="1078992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57200" y="2240280"/>
            <a:ext cx="2697480" cy="36576"/>
          </a:xfrm>
          <a:prstGeom prst="rect">
            <a:avLst/>
          </a:prstGeom>
          <a:solidFill>
            <a:srgbClr val="FF7F56"/>
          </a:solidFill>
          <a:ln w="12700">
            <a:solidFill>
              <a:srgbClr val="FF7F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441448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51560" y="24231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AUTH0 / OKTA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1051560" y="2715768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888888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Identity &amp; Security</a:t>
            </a:r>
            <a:endParaRPr lang="en-US" sz="800" dirty="0"/>
          </a:p>
        </p:txBody>
      </p:sp>
      <p:sp>
        <p:nvSpPr>
          <p:cNvPr id="15" name="Shape 11"/>
          <p:cNvSpPr/>
          <p:nvPr/>
        </p:nvSpPr>
        <p:spPr>
          <a:xfrm>
            <a:off x="3310128" y="2240280"/>
            <a:ext cx="2697480" cy="1078992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3310128" y="2240280"/>
            <a:ext cx="2697480" cy="36576"/>
          </a:xfrm>
          <a:prstGeom prst="rect">
            <a:avLst/>
          </a:prstGeom>
          <a:solidFill>
            <a:srgbClr val="FF7F56"/>
          </a:solidFill>
          <a:ln w="12700">
            <a:solidFill>
              <a:srgbClr val="FF7F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93008" y="2441448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3904488" y="24231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GITHUB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3904488" y="2715768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888888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Workflow Trigger</a:t>
            </a:r>
            <a:endParaRPr lang="en-US" sz="800" dirty="0"/>
          </a:p>
        </p:txBody>
      </p:sp>
      <p:sp>
        <p:nvSpPr>
          <p:cNvPr id="20" name="Shape 15"/>
          <p:cNvSpPr/>
          <p:nvPr/>
        </p:nvSpPr>
        <p:spPr>
          <a:xfrm>
            <a:off x="6163056" y="2240280"/>
            <a:ext cx="2697480" cy="1078992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6163056" y="2240280"/>
            <a:ext cx="2697480" cy="36576"/>
          </a:xfrm>
          <a:prstGeom prst="rect">
            <a:avLst/>
          </a:prstGeom>
          <a:solidFill>
            <a:srgbClr val="FF7F56"/>
          </a:solidFill>
          <a:ln w="12700">
            <a:solidFill>
              <a:srgbClr val="FF7F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45936" y="2441448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757416" y="24231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JIRA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6757416" y="2715768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888888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Ticket Management</a:t>
            </a:r>
            <a:endParaRPr lang="en-US" sz="800" dirty="0"/>
          </a:p>
        </p:txBody>
      </p:sp>
      <p:sp>
        <p:nvSpPr>
          <p:cNvPr id="25" name="Shape 19"/>
          <p:cNvSpPr/>
          <p:nvPr/>
        </p:nvSpPr>
        <p:spPr>
          <a:xfrm>
            <a:off x="457200" y="3474720"/>
            <a:ext cx="2697480" cy="1078992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0"/>
          <p:cNvSpPr/>
          <p:nvPr/>
        </p:nvSpPr>
        <p:spPr>
          <a:xfrm>
            <a:off x="457200" y="3474720"/>
            <a:ext cx="2697480" cy="36576"/>
          </a:xfrm>
          <a:prstGeom prst="rect">
            <a:avLst/>
          </a:prstGeom>
          <a:solidFill>
            <a:srgbClr val="FF7F56"/>
          </a:solidFill>
          <a:ln w="12700">
            <a:solidFill>
              <a:srgbClr val="FF7F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3675888"/>
            <a:ext cx="292608" cy="29260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051560" y="36576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CONFLUENCE</a:t>
            </a:r>
            <a:endParaRPr lang="en-US" sz="1100" dirty="0"/>
          </a:p>
        </p:txBody>
      </p:sp>
      <p:sp>
        <p:nvSpPr>
          <p:cNvPr id="29" name="Text 22"/>
          <p:cNvSpPr/>
          <p:nvPr/>
        </p:nvSpPr>
        <p:spPr>
          <a:xfrm>
            <a:off x="1051560" y="3950208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888888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Documentation</a:t>
            </a:r>
            <a:endParaRPr lang="en-US" sz="800" dirty="0"/>
          </a:p>
        </p:txBody>
      </p:sp>
      <p:sp>
        <p:nvSpPr>
          <p:cNvPr id="30" name="Shape 23"/>
          <p:cNvSpPr/>
          <p:nvPr/>
        </p:nvSpPr>
        <p:spPr>
          <a:xfrm>
            <a:off x="3310128" y="3474720"/>
            <a:ext cx="2697480" cy="1078992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4"/>
          <p:cNvSpPr/>
          <p:nvPr/>
        </p:nvSpPr>
        <p:spPr>
          <a:xfrm>
            <a:off x="3310128" y="3474720"/>
            <a:ext cx="2697480" cy="36576"/>
          </a:xfrm>
          <a:prstGeom prst="rect">
            <a:avLst/>
          </a:prstGeom>
          <a:solidFill>
            <a:srgbClr val="FF7F56"/>
          </a:solidFill>
          <a:ln w="12700">
            <a:solidFill>
              <a:srgbClr val="FF7F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93008" y="3675888"/>
            <a:ext cx="292608" cy="292608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3904488" y="36576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MS TEAMS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3904488" y="3950208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888888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Notifications</a:t>
            </a:r>
            <a:endParaRPr lang="en-US" sz="800" dirty="0"/>
          </a:p>
        </p:txBody>
      </p:sp>
      <p:sp>
        <p:nvSpPr>
          <p:cNvPr id="35" name="Shape 27"/>
          <p:cNvSpPr/>
          <p:nvPr/>
        </p:nvSpPr>
        <p:spPr>
          <a:xfrm>
            <a:off x="6163056" y="3474720"/>
            <a:ext cx="2697480" cy="1078992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28"/>
          <p:cNvSpPr/>
          <p:nvPr/>
        </p:nvSpPr>
        <p:spPr>
          <a:xfrm>
            <a:off x="6163056" y="3474720"/>
            <a:ext cx="2697480" cy="36576"/>
          </a:xfrm>
          <a:prstGeom prst="rect">
            <a:avLst/>
          </a:prstGeom>
          <a:solidFill>
            <a:srgbClr val="FF7F56"/>
          </a:solidFill>
          <a:ln w="12700">
            <a:solidFill>
              <a:srgbClr val="FF7F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7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45936" y="3675888"/>
            <a:ext cx="292608" cy="292608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6757416" y="36576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PDF EXPORT</a:t>
            </a:r>
            <a:endParaRPr lang="en-US" sz="1100" dirty="0"/>
          </a:p>
        </p:txBody>
      </p:sp>
      <p:sp>
        <p:nvSpPr>
          <p:cNvPr id="39" name="Text 30"/>
          <p:cNvSpPr/>
          <p:nvPr/>
        </p:nvSpPr>
        <p:spPr>
          <a:xfrm>
            <a:off x="6757416" y="3950208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888888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Reporting</a:t>
            </a:r>
            <a:endParaRPr lang="en-US" sz="800" dirty="0"/>
          </a:p>
        </p:txBody>
      </p:sp>
      <p:sp>
        <p:nvSpPr>
          <p:cNvPr id="40" name="Shape 31"/>
          <p:cNvSpPr/>
          <p:nvPr/>
        </p:nvSpPr>
        <p:spPr>
          <a:xfrm>
            <a:off x="457200" y="4572000"/>
            <a:ext cx="8229600" cy="20116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2"/>
          <p:cNvSpPr/>
          <p:nvPr/>
        </p:nvSpPr>
        <p:spPr>
          <a:xfrm>
            <a:off x="594360" y="4590288"/>
            <a:ext cx="7863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7F5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🔐  All connector tokens are stored exclusively in Auth0 Token Vault — never exposed to the client application.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869180"/>
            <a:ext cx="36576" cy="274320"/>
          </a:xfrm>
          <a:prstGeom prst="rect">
            <a:avLst/>
          </a:prstGeom>
          <a:solidFill>
            <a:srgbClr val="FF7F56"/>
          </a:solidFill>
          <a:ln w="12700">
            <a:solidFill>
              <a:srgbClr val="FF7F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92608"/>
            <a:ext cx="237744" cy="1828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85800" y="27432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KO</a:t>
            </a:r>
            <a:r>
              <a:rPr lang="en-US" sz="1200" b="1" kern="0" spc="200" dirty="0">
                <a:solidFill>
                  <a:srgbClr val="FF7F56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D</a:t>
            </a:r>
            <a:r>
              <a:rPr lang="en-US" sz="1200" b="1" kern="0" spc="200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EZ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FF7F56"/>
          </a:solidFill>
          <a:ln w="12700">
            <a:solidFill>
              <a:srgbClr val="FF7F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000000">
              <a:alpha val="15000"/>
            </a:srgbClr>
          </a:solidFill>
          <a:ln w="12700">
            <a:solidFill>
              <a:srgbClr val="000000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57200" y="786384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300" dirty="0">
                <a:solidFill>
                  <a:srgbClr val="FF7F56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SECURITY ARCHITECTURE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457200" y="987552"/>
            <a:ext cx="52120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Security-first,</a:t>
            </a:r>
            <a:endParaRPr lang="en-US" sz="2800" dirty="0"/>
          </a:p>
          <a:p>
            <a:pPr marL="0" indent="0">
              <a:lnSpc>
                <a:spcPct val="92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by design.</a:t>
            </a:r>
            <a:endParaRPr lang="en-US" sz="2800" dirty="0"/>
          </a:p>
        </p:txBody>
      </p:sp>
      <p:sp>
        <p:nvSpPr>
          <p:cNvPr id="10" name="Shape 7"/>
          <p:cNvSpPr/>
          <p:nvPr/>
        </p:nvSpPr>
        <p:spPr>
          <a:xfrm>
            <a:off x="457200" y="1984248"/>
            <a:ext cx="201168" cy="201168"/>
          </a:xfrm>
          <a:prstGeom prst="rect">
            <a:avLst/>
          </a:prstGeom>
          <a:solidFill>
            <a:srgbClr val="FF7F56"/>
          </a:solidFill>
          <a:ln w="12700">
            <a:solidFill>
              <a:srgbClr val="FF7F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768096" y="1920240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Encrypted at rest and in transit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57200" y="2459736"/>
            <a:ext cx="201168" cy="201168"/>
          </a:xfrm>
          <a:prstGeom prst="rect">
            <a:avLst/>
          </a:prstGeom>
          <a:solidFill>
            <a:srgbClr val="FF7F56"/>
          </a:solidFill>
          <a:ln w="12700">
            <a:solidFill>
              <a:srgbClr val="FF7F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768096" y="2395728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Tokens scoped per connector — never shared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57200" y="2935224"/>
            <a:ext cx="201168" cy="201168"/>
          </a:xfrm>
          <a:prstGeom prst="rect">
            <a:avLst/>
          </a:prstGeom>
          <a:solidFill>
            <a:srgbClr val="FF7F56"/>
          </a:solidFill>
          <a:ln w="12700">
            <a:solidFill>
              <a:srgbClr val="FF7F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768096" y="2871216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Zero plaintext credential exposure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57200" y="3410712"/>
            <a:ext cx="201168" cy="201168"/>
          </a:xfrm>
          <a:prstGeom prst="rect">
            <a:avLst/>
          </a:prstGeom>
          <a:solidFill>
            <a:srgbClr val="FF7F56"/>
          </a:solidFill>
          <a:ln w="12700">
            <a:solidFill>
              <a:srgbClr val="FF7F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768096" y="3346704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Auth0-managed token lifecycle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457200" y="3886200"/>
            <a:ext cx="201168" cy="201168"/>
          </a:xfrm>
          <a:prstGeom prst="rect">
            <a:avLst/>
          </a:prstGeom>
          <a:solidFill>
            <a:srgbClr val="FF7F56"/>
          </a:solidFill>
          <a:ln w="12700">
            <a:solidFill>
              <a:srgbClr val="FF7F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768096" y="3822192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No tokens stored or cached in the client application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6126480" y="1097280"/>
            <a:ext cx="2743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85000"/>
              </a:lnSpc>
              <a:buNone/>
            </a:pPr>
            <a:r>
              <a:rPr lang="en-US" sz="4000" b="1" dirty="0">
                <a:solidFill>
                  <a:srgbClr val="111111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AUTH0</a:t>
            </a:r>
            <a:endParaRPr lang="en-US" sz="4000" dirty="0"/>
          </a:p>
          <a:p>
            <a:pPr marL="0" indent="0">
              <a:lnSpc>
                <a:spcPct val="85000"/>
              </a:lnSpc>
              <a:buNone/>
            </a:pPr>
            <a:r>
              <a:rPr lang="en-US" sz="4000" b="1" dirty="0">
                <a:solidFill>
                  <a:srgbClr val="111111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TOKEN</a:t>
            </a:r>
            <a:endParaRPr lang="en-US" sz="4000" dirty="0"/>
          </a:p>
          <a:p>
            <a:pPr marL="0" indent="0">
              <a:lnSpc>
                <a:spcPct val="85000"/>
              </a:lnSpc>
              <a:buNone/>
            </a:pPr>
            <a:r>
              <a:rPr lang="en-US" sz="4000" b="1" dirty="0">
                <a:solidFill>
                  <a:srgbClr val="111111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VAULT</a:t>
            </a:r>
            <a:endParaRPr lang="en-US" sz="4000" dirty="0"/>
          </a:p>
        </p:txBody>
      </p:sp>
      <p:sp>
        <p:nvSpPr>
          <p:cNvPr id="21" name="Text 18"/>
          <p:cNvSpPr/>
          <p:nvPr/>
        </p:nvSpPr>
        <p:spPr>
          <a:xfrm>
            <a:off x="6126480" y="320040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Every credential managed exclusively through Auth0 Token Vault.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46320"/>
            <a:ext cx="9144000" cy="9144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4873752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888888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KODEZ CHECKMATE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572000" y="4873752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kern="0" spc="100" dirty="0">
                <a:solidFill>
                  <a:srgbClr val="C0C0C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Why it matters</a:t>
            </a:r>
            <a:endParaRPr lang="en-US" sz="7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92608"/>
            <a:ext cx="237744" cy="1828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27432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11111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KO</a:t>
            </a:r>
            <a:r>
              <a:rPr lang="en-US" sz="1200" b="1" kern="0" spc="200" dirty="0">
                <a:solidFill>
                  <a:srgbClr val="FF7F56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D</a:t>
            </a:r>
            <a:r>
              <a:rPr lang="en-US" sz="1200" b="1" kern="0" spc="200" dirty="0">
                <a:solidFill>
                  <a:srgbClr val="111111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EZ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57200" y="786384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300" dirty="0">
                <a:solidFill>
                  <a:srgbClr val="FF7F56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WHY IT MATTERS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457200" y="987552"/>
            <a:ext cx="8229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2600" b="1" dirty="0">
                <a:solidFill>
                  <a:srgbClr val="111111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Less time managing workflows.</a:t>
            </a:r>
            <a:endParaRPr lang="en-US" sz="2600" dirty="0"/>
          </a:p>
          <a:p>
            <a:pPr marL="0" indent="0">
              <a:lnSpc>
                <a:spcPct val="92000"/>
              </a:lnSpc>
              <a:buNone/>
            </a:pPr>
            <a:r>
              <a:rPr lang="en-US" sz="2600" b="1" dirty="0">
                <a:solidFill>
                  <a:srgbClr val="111111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More time reducing risk.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457200" y="1901952"/>
            <a:ext cx="2697480" cy="2724912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57200" y="1901952"/>
            <a:ext cx="54864" cy="2724912"/>
          </a:xfrm>
          <a:prstGeom prst="rect">
            <a:avLst/>
          </a:prstGeom>
          <a:solidFill>
            <a:srgbClr val="FF7F56"/>
          </a:solidFill>
          <a:ln w="12700">
            <a:solidFill>
              <a:srgbClr val="FF7F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40080" y="20116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SECURITY TEAMS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40080" y="2322576"/>
            <a:ext cx="2331720" cy="6401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40080" y="2395728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Spend less time coordinating workflows between tools. Scan results flow directly into tickets, docs, and alerts — automatically.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640080" y="3749040"/>
            <a:ext cx="2377440" cy="64008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40080" y="374904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7F56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MORE TIME REDUCING RISK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3310128" y="1901952"/>
            <a:ext cx="2697480" cy="2724912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3310128" y="1901952"/>
            <a:ext cx="54864" cy="2724912"/>
          </a:xfrm>
          <a:prstGeom prst="rect">
            <a:avLst/>
          </a:prstGeom>
          <a:solidFill>
            <a:srgbClr val="FF7F56"/>
          </a:solidFill>
          <a:ln w="12700">
            <a:solidFill>
              <a:srgbClr val="FF7F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3493008" y="20116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ENGINEERING TEAMS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3493008" y="2322576"/>
            <a:ext cx="2331720" cy="6401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3493008" y="2395728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Findings arrive in the tools you already use — JIRA, Confluence, Teams — in the right format, with no manual handoff required.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3493008" y="3749040"/>
            <a:ext cx="2377440" cy="64008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3493008" y="374904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7F56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ZERO CONTEXT SWITCHING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6163056" y="1901952"/>
            <a:ext cx="2697480" cy="2724912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6163056" y="1901952"/>
            <a:ext cx="54864" cy="2724912"/>
          </a:xfrm>
          <a:prstGeom prst="rect">
            <a:avLst/>
          </a:prstGeom>
          <a:solidFill>
            <a:srgbClr val="FF7F56"/>
          </a:solidFill>
          <a:ln w="12700">
            <a:solidFill>
              <a:srgbClr val="FF7F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6345936" y="20116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LEADERSHIP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6345936" y="2322576"/>
            <a:ext cx="2331720" cy="6401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6345936" y="2395728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Full visibility into your Auth0 security posture without waiting for a weekly report. Executive summaries on demand.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6345936" y="3749040"/>
            <a:ext cx="2377440" cy="64008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6345936" y="374904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7F56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REAL-TIME POSTURE VISIBILITY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FF7F56"/>
          </a:solidFill>
          <a:ln w="12700">
            <a:solidFill>
              <a:srgbClr val="FF7F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000000">
              <a:alpha val="12000"/>
            </a:srgbClr>
          </a:solidFill>
          <a:ln w="12700">
            <a:solidFill>
              <a:srgbClr val="000000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20040"/>
            <a:ext cx="237744" cy="1828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49808" y="301752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KO</a:t>
            </a:r>
            <a:r>
              <a:rPr lang="en-US" sz="1200" b="1" kern="0" spc="200" dirty="0">
                <a:solidFill>
                  <a:srgbClr val="FF7F56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D</a:t>
            </a:r>
            <a:r>
              <a:rPr lang="en-US" sz="1200" b="1" kern="0" spc="200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EZ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57200" y="137160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300" dirty="0">
                <a:solidFill>
                  <a:srgbClr val="FF7F56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GET STARTED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457200" y="1572768"/>
            <a:ext cx="5486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Start securing your</a:t>
            </a:r>
            <a:endParaRPr lang="en-US" sz="38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Auth0 tenant today.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457200" y="3063240"/>
            <a:ext cx="5303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888888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Connect your tools, run your first scan, and let the AI Agent guide you to a safer Auth0 configuration — in minutes.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57200" y="3886200"/>
            <a:ext cx="2194560" cy="457200"/>
          </a:xfrm>
          <a:prstGeom prst="rect">
            <a:avLst/>
          </a:prstGeom>
          <a:solidFill>
            <a:srgbClr val="FF7F56"/>
          </a:solidFill>
          <a:ln w="12700">
            <a:solidFill>
              <a:srgbClr val="FF7F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457200" y="38862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LOG IN WITH AUTH0 →</a:t>
            </a:r>
          </a:p>
          <a:p>
            <a:pPr algn="ctr"/>
            <a:r>
              <a:rPr lang="en-US" sz="900" dirty="0">
                <a:hlinkClick r:id="rId4"/>
              </a:rPr>
              <a:t>https://authorizedtoact.kodez.au/</a:t>
            </a:r>
            <a:r>
              <a:rPr lang="en-US" sz="900" dirty="0"/>
              <a:t> </a:t>
            </a:r>
          </a:p>
        </p:txBody>
      </p:sp>
      <p:sp>
        <p:nvSpPr>
          <p:cNvPr id="11" name="Shape 8"/>
          <p:cNvSpPr/>
          <p:nvPr/>
        </p:nvSpPr>
        <p:spPr>
          <a:xfrm>
            <a:off x="457200" y="4754880"/>
            <a:ext cx="5577840" cy="6401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57200" y="480060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100" dirty="0">
                <a:solidFill>
                  <a:srgbClr val="444444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KODEZ CHECKMATE  ·  AI-POWERED SECOPS ORCHESTRATION FOR AUTH0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728</Words>
  <Application>Microsoft Macintosh PowerPoint</Application>
  <PresentationFormat>On-screen Show (16:9)</PresentationFormat>
  <Paragraphs>135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Barlow</vt:lpstr>
      <vt:lpstr>Barlow Condensed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Kodez CheckMate</dc:title>
  <dc:subject>PptxGenJS Presentation</dc:subject>
  <dc:creator>PptxGenJS</dc:creator>
  <cp:lastModifiedBy>Tharindu Edirisinghe</cp:lastModifiedBy>
  <cp:revision>4</cp:revision>
  <dcterms:created xsi:type="dcterms:W3CDTF">2026-04-06T21:13:11Z</dcterms:created>
  <dcterms:modified xsi:type="dcterms:W3CDTF">2026-04-06T21:20:24Z</dcterms:modified>
</cp:coreProperties>
</file>